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100" b="1">
                <a:solidFill>
                  <a:srgbClr val="C5C0B6"/>
                </a:solidFill>
                <a:latin typeface="IBM Plex Mono"/>
              </a:defRPr>
            </a:pPr>
            <a:r>
              <a:t>LÁPIS RAЯO • BRAND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365760"/>
            <a:ext cx="2286000" cy="365760"/>
          </a:xfrm>
          <a:prstGeom prst="round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IBM Plex Mono"/>
              </a:defRPr>
            </a:pPr>
            <a:r>
              <a:t>PREVISÃO: JAN /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931920" cy="82296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IBM Plex Mono"/>
              </a:defRPr>
            </a:pPr>
            <a:r>
              <a:t>ESQUADЯO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93192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400">
                <a:solidFill>
                  <a:srgbClr val="E5E3D9"/>
                </a:solidFill>
                <a:latin typeface="IBM Plex Sans"/>
              </a:defRPr>
            </a:pPr>
            <a:r>
              <a:t>Centralização das especificações técnicas no Illustrator, Photoshop, After Effects e Premiere. Automação de pranchetas e composições com réguas e safe zones oficiais.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3474720" cy="365760"/>
          </a:xfrm>
          <a:prstGeom prst="roundRect">
            <a:avLst/>
          </a:prstGeom>
          <a:solidFill>
            <a:srgbClr val="33333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5C0B6"/>
                </a:solidFill>
                <a:latin typeface="IBM Plex Mono"/>
              </a:defRPr>
            </a:pPr>
            <a:r>
              <a:t>Fase: Desenvolvimento &amp; Checagem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280160"/>
            <a:ext cx="402336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FLUXO GUIADO SEM DÚVIDAS</a:t>
            </a:r>
          </a:p>
          <a:p>
            <a:pPr>
              <a:defRPr sz="1200">
                <a:solidFill>
                  <a:srgbClr val="C5C0B6"/>
                </a:solidFill>
                <a:latin typeface="IBM Plex Sans"/>
              </a:defRPr>
            </a:pPr>
            <a:r>
              <a:t>Criação direcionada para quem não tem costume com o formato, sem consultar manuais.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80160"/>
            <a:ext cx="73152" cy="1097280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2514600"/>
            <a:ext cx="402336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ZERO REFAÇÃO POR CORTE</a:t>
            </a:r>
          </a:p>
          <a:p>
            <a:pPr>
              <a:defRPr sz="1200">
                <a:solidFill>
                  <a:srgbClr val="C5C0B6"/>
                </a:solidFill>
                <a:latin typeface="IBM Plex Sans"/>
              </a:defRPr>
            </a:pPr>
            <a:r>
              <a:t>Safe Zones e margens aplicadas automaticamente para proteger marcas e CTAs.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514600"/>
            <a:ext cx="73152" cy="1097280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749040"/>
            <a:ext cx="402336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t>GERAÇÃO EM 1 CLIQUE</a:t>
            </a:r>
          </a:p>
          <a:p>
            <a:pPr>
              <a:defRPr sz="1200">
                <a:solidFill>
                  <a:srgbClr val="C5C0B6"/>
                </a:solidFill>
                <a:latin typeface="IBM Plex Sans"/>
              </a:defRPr>
            </a:pPr>
            <a:r>
              <a:t>Pranchetas individuais, múltiplas ou aplicação de guias no arquivo em andamento.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749040"/>
            <a:ext cx="73152" cy="1097280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280160"/>
            <a:ext cx="2651760" cy="424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>
                <a:solidFill>
                  <a:srgbClr val="C5C0B6"/>
                </a:solidFill>
                <a:latin typeface="IBM Plex Mono"/>
              </a:defRPr>
            </a:pPr>
            <a:r>
              <a:t>PROJETO 01 • AUTOMAÇÃO DE WORKFLOW                         2026 • LÁPIS RAЯO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