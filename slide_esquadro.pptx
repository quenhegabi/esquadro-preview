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5C0B6"/>
                </a:solidFill>
                <a:latin typeface="IBM Plex Mono"/>
              </a:defRPr>
            </a:pPr>
            <a:r>
              <a:t>LÁPIS RAЯO • BRAND INTELLIGENCE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E61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BM Plex Mono"/>
              </a:defRPr>
            </a:pPr>
            <a:r>
              <a:t>PREVISÃO: JAN /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840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  <a:latin typeface="IBM Plex Mono"/>
              </a:defRPr>
            </a:pPr>
            <a:r>
              <a:t>ESQUADЯO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5E3D9"/>
                </a:solidFill>
                <a:latin typeface="IBM Plex Sans"/>
              </a:defRPr>
            </a:pPr>
            <a:r>
              <a:t>Centralização das especificações técnicas no Illustrator, Photoshop, After Effects e Premiere. Automação de pranchetas e composições com réguas e safe zones oficiais.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663440"/>
            <a:ext cx="3474720" cy="365760"/>
          </a:xfrm>
          <a:prstGeom prst="roundRect">
            <a:avLst/>
          </a:prstGeom>
          <a:solidFill>
            <a:srgbClr val="333333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C5C0B6"/>
                </a:solidFill>
                <a:latin typeface="IBM Plex Mono"/>
              </a:defRPr>
            </a:pPr>
            <a:r>
              <a:t>Fase: Desenvolvimento &amp; Checagem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371600"/>
            <a:ext cx="3931920" cy="109728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IBM Plex Mono"/>
              </a:defRPr>
            </a:pPr>
            <a:r>
              <a:t>FLUXO GUIADO SEM DÚVIDAS</a:t>
            </a:r>
          </a:p>
          <a:p>
            <a:pPr>
              <a:defRPr sz="1200">
                <a:solidFill>
                  <a:srgbClr val="C5C0B6"/>
                </a:solidFill>
                <a:latin typeface="IBM Plex Sans"/>
              </a:defRPr>
            </a:pPr>
            <a:r>
              <a:t>Criação direcionada para quem não tem costume com o formato, sem consultar manuais.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71600"/>
            <a:ext cx="73152" cy="1097280"/>
          </a:xfrm>
          <a:prstGeom prst="rect">
            <a:avLst/>
          </a:prstGeom>
          <a:solidFill>
            <a:srgbClr val="E61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2606040"/>
            <a:ext cx="3931920" cy="109728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IBM Plex Mono"/>
              </a:defRPr>
            </a:pPr>
            <a:r>
              <a:t>ZERO REFAÇÃO POR CORTE</a:t>
            </a:r>
          </a:p>
          <a:p>
            <a:pPr>
              <a:defRPr sz="1200">
                <a:solidFill>
                  <a:srgbClr val="C5C0B6"/>
                </a:solidFill>
                <a:latin typeface="IBM Plex Sans"/>
              </a:defRPr>
            </a:pPr>
            <a:r>
              <a:t>Safe Zones e margens aplicadas automaticamente para proteger marcas e CTAs.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606040"/>
            <a:ext cx="73152" cy="1097280"/>
          </a:xfrm>
          <a:prstGeom prst="rect">
            <a:avLst/>
          </a:prstGeom>
          <a:solidFill>
            <a:srgbClr val="E61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3840480"/>
            <a:ext cx="3931920" cy="109728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IBM Plex Mono"/>
              </a:defRPr>
            </a:pPr>
            <a:r>
              <a:t>GERAÇÃO EM 1 CLIQUE</a:t>
            </a:r>
          </a:p>
          <a:p>
            <a:pPr>
              <a:defRPr sz="1200">
                <a:solidFill>
                  <a:srgbClr val="C5C0B6"/>
                </a:solidFill>
                <a:latin typeface="IBM Plex Sans"/>
              </a:defRPr>
            </a:pPr>
            <a:r>
              <a:t>Pranchetas individuais, múltiplas ou aplicação de guias no arquivo em andamento.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3840480"/>
            <a:ext cx="73152" cy="1097280"/>
          </a:xfrm>
          <a:prstGeom prst="rect">
            <a:avLst/>
          </a:prstGeom>
          <a:solidFill>
            <a:srgbClr val="E61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1371600"/>
            <a:ext cx="2651760" cy="4242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5C0B6"/>
                </a:solidFill>
                <a:latin typeface="IBM Plex Mono"/>
              </a:defRPr>
            </a:pPr>
            <a:r>
              <a:t>PROJETO 01 • AUTOMAÇÃO DE WORKFLOW                         2026 • LÁPIS RAЯO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